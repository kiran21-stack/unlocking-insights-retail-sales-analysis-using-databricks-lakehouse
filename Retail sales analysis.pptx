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66" r:id="rId5"/>
    <p:sldId id="259" r:id="rId6"/>
    <p:sldId id="269" r:id="rId7"/>
    <p:sldId id="271" r:id="rId8"/>
    <p:sldId id="267" r:id="rId9"/>
    <p:sldId id="268" r:id="rId10"/>
    <p:sldId id="261" r:id="rId11"/>
    <p:sldId id="262" r:id="rId12"/>
    <p:sldId id="263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FAEAF-3F89-F707-FB11-4A392A935C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039C91-2F8E-ABE8-EA37-2CD9C20725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39EB8-BFA8-3D7F-11E1-8425D36E9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AEE1F-6D29-4656-9B3A-CA4B8B253520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971CB-606C-E5B0-FF7F-6FCAB157F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2E8F5-6265-5BBA-7766-B0C327E60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F4175-E16E-4F9E-ABD5-19E47A648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158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7AEF-AE08-F249-3A0E-3D2AD9AE4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9820E-C7A8-71C3-C231-682CD46D9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88A7D-ED1E-472B-1BC4-7AD91335E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AEE1F-6D29-4656-9B3A-CA4B8B253520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FC6DA-8F6E-1802-17AA-DFF270F43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1C7B3-1170-EDCB-F4BE-316A0261D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F4175-E16E-4F9E-ABD5-19E47A648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910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0C262-4018-96CA-8CDD-D558C0BFF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1CF23-F092-F8F0-884E-70DACCA55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74241-1870-62ED-D2E6-61870E6AB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AEE1F-6D29-4656-9B3A-CA4B8B253520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08B10-CCC2-6845-268A-1B87F9507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3FD8A-9F00-A0E0-64D0-666A20199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F4175-E16E-4F9E-ABD5-19E47A648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627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8FFB7-9059-75A0-3FF7-6F4783B08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2A7A0-2047-F6F3-1C8E-5463380366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5A377-1F66-9DB5-6BA2-D8B1CF9ED1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427CC0-A2D0-C5D3-6E10-7BE97D90A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AEE1F-6D29-4656-9B3A-CA4B8B253520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5C22B2-25B9-173B-7CA2-FD8B22587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9218A-E797-1E4B-53EC-9ADC2A417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F4175-E16E-4F9E-ABD5-19E47A648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673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27E1A-FF72-802A-B878-8640756C7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5F599-706C-1ADF-32EF-0D239F7A7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C7C020-C83D-69E1-1B0D-E8F323130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E14622-6DDB-1524-2AE1-85066E80EF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8B3D6D-CA26-E699-3673-7D81F7760C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A16A4F-7647-AF51-505A-FA613D4F3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AEE1F-6D29-4656-9B3A-CA4B8B253520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8BE870-2F2B-636F-D44D-4887A30D7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B631EC-BDA2-AD0A-79AB-2A58AC51D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F4175-E16E-4F9E-ABD5-19E47A648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231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CFCE0-94AB-8863-5D70-9CD08E16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F58068-D5AD-4F58-ED29-D4C71C47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AEE1F-6D29-4656-9B3A-CA4B8B253520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211361-9191-E6DC-8C25-4EECCDF0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8E6BB6-4079-47B0-ADE3-03D979A1A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F4175-E16E-4F9E-ABD5-19E47A648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867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4D52E7-4941-96FE-3080-B7165DC23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AEE1F-6D29-4656-9B3A-CA4B8B253520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FC6390-56D9-64BA-CE66-C809EA036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EB14D-EE44-D23D-0537-972448574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F4175-E16E-4F9E-ABD5-19E47A648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623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5FB8D-2328-41B7-5CE2-185E2626C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EEFAA-B12B-595F-84A1-C666B0242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D632A8-CD32-C792-DB52-DEA595B70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49819-D332-ACCC-4EF3-9D184F014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AEE1F-6D29-4656-9B3A-CA4B8B253520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8D574-C77C-02B1-309E-8BC153C5D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E0CF5-0999-A06A-8CD8-66329D5F7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F4175-E16E-4F9E-ABD5-19E47A648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34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5E934-96A0-EEDC-38F5-D45131A3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9DAB9-DA23-5966-5629-779232CEB9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58571F-DB9E-2387-6F50-24A40D6133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AEA99-9561-3F0B-06EC-B601DFD3B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AEE1F-6D29-4656-9B3A-CA4B8B253520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D42624-9426-303C-5FB0-BD93D4539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F11BE-8C68-FD66-62AD-C81894A60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F4175-E16E-4F9E-ABD5-19E47A648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313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5372A-ECAA-B7EC-B17A-0DB8EE8C9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9C7B76-4A81-4FA3-B1C6-E18C7A551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20E4E-3648-1253-2008-41097860F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AEE1F-6D29-4656-9B3A-CA4B8B253520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6AC74-8416-F836-3319-6D499F352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1E58B-41EC-7C53-32C3-45DE22032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F4175-E16E-4F9E-ABD5-19E47A648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713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4226EC-3A8A-BAD6-0B66-FE6099A9DA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AC7E75-82B4-752B-E398-07B4EC83A7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752E4-5E03-A983-AB38-E64CC2FD5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AEE1F-6D29-4656-9B3A-CA4B8B253520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4ED49-A3BA-385F-4DAF-8FA8C9A4B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4047A-37BA-CD78-D2F6-7CF50C83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F4175-E16E-4F9E-ABD5-19E47A648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862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179E91-B8B6-A9B3-7E49-71EBB9E73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399D0-1F17-12F2-E993-CE8101035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EB39E-0398-357D-1D7B-E20065A7D3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AEE1F-6D29-4656-9B3A-CA4B8B253520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B02FD-6D63-3340-432D-2C3FCA9EE4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C840B-98BC-A5BF-901C-E7BC10AAF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F4175-E16E-4F9E-ABD5-19E47A648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359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kgeoinsys/retail/blob/main/Retail-20210521T141851Z-001.zip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B6A8D3-3A9E-86BB-819A-2C98C8AD0B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6948" y="1291472"/>
            <a:ext cx="10454326" cy="3733015"/>
          </a:xfrm>
        </p:spPr>
        <p:txBody>
          <a:bodyPr>
            <a:normAutofit lnSpcReduction="10000"/>
          </a:bodyPr>
          <a:lstStyle/>
          <a:p>
            <a:r>
              <a:rPr lang="en-GB" sz="3200" b="1" dirty="0"/>
              <a:t>Unlocking Insights: Retail Sales Analysis Using </a:t>
            </a:r>
          </a:p>
          <a:p>
            <a:r>
              <a:rPr lang="en-GB" sz="3200" b="1" dirty="0"/>
              <a:t>Databricks Lakehouse</a:t>
            </a:r>
          </a:p>
          <a:p>
            <a:r>
              <a:rPr lang="en-IN" sz="3200" b="1" dirty="0"/>
              <a:t>Tools Used:</a:t>
            </a:r>
            <a:r>
              <a:rPr lang="en-IN" sz="3200" dirty="0"/>
              <a:t> Azure Data Lake Storage (ADLS Gen2)</a:t>
            </a:r>
          </a:p>
          <a:p>
            <a:r>
              <a:rPr lang="en-IN" sz="3200" dirty="0"/>
              <a:t>Databricks (</a:t>
            </a:r>
            <a:r>
              <a:rPr lang="en-IN" sz="3200" dirty="0" err="1"/>
              <a:t>PySpark</a:t>
            </a:r>
            <a:r>
              <a:rPr lang="en-IN" sz="3200" dirty="0"/>
              <a:t>)</a:t>
            </a:r>
          </a:p>
          <a:p>
            <a:r>
              <a:rPr lang="en-IN" sz="3200" dirty="0"/>
              <a:t>Unity </a:t>
            </a:r>
            <a:r>
              <a:rPr lang="en-IN" sz="3200" dirty="0" err="1"/>
              <a:t>Catalog</a:t>
            </a:r>
            <a:endParaRPr lang="en-IN" sz="3200" dirty="0"/>
          </a:p>
          <a:p>
            <a:r>
              <a:rPr lang="en-IN" sz="3200" dirty="0"/>
              <a:t>Spark SQL</a:t>
            </a:r>
          </a:p>
          <a:p>
            <a:r>
              <a:rPr lang="en-IN" sz="3200" dirty="0"/>
              <a:t>Power BI.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321813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34CE3-C26B-722E-4782-125738B6D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9848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PROJECT OVERVIEW: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78773-6236-24D7-DFDB-D895C50E0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8351"/>
            <a:ext cx="10515600" cy="499861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The </a:t>
            </a:r>
            <a:r>
              <a:rPr lang="en-GB" sz="2400" dirty="0" err="1"/>
              <a:t>Geocart</a:t>
            </a:r>
            <a:r>
              <a:rPr lang="en-GB" sz="2400" dirty="0"/>
              <a:t> e-commerce ordering and delivery application aims to enhance the shopping experience for its users by leveraging transactional data for insightful analysis.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The project focuses on designing and implementing a robust data pipeline to process and </a:t>
            </a:r>
            <a:r>
              <a:rPr lang="en-GB" sz="2400" dirty="0" err="1"/>
              <a:t>analyze</a:t>
            </a:r>
            <a:r>
              <a:rPr lang="en-GB" sz="2400" dirty="0"/>
              <a:t> a large relational dataset of customer orders.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The dataset, containing anonymized information from over a million orders, serves as the foundation for predicting user behaviour, including repeat purchases, new product trials, and items returned due to various problems.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0912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16BFD-870A-8773-D0EF-A30037936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392159" cy="596409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PROJECT OBJECTIVE: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7F8AB-0ADE-BD09-E39A-0EFE91C39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169" y="1036947"/>
            <a:ext cx="11048215" cy="5637229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4400" b="1" dirty="0"/>
              <a:t>GOAL: </a:t>
            </a:r>
          </a:p>
          <a:p>
            <a:pPr marL="0" indent="0">
              <a:buNone/>
            </a:pPr>
            <a:r>
              <a:rPr lang="en-GB" b="1" dirty="0"/>
              <a:t>              </a:t>
            </a:r>
            <a:r>
              <a:rPr lang="en-GB" sz="3800" dirty="0"/>
              <a:t>Design and implement a scalable data pipeline for processing and analysing</a:t>
            </a:r>
          </a:p>
          <a:p>
            <a:pPr marL="0" indent="0">
              <a:buNone/>
            </a:pPr>
            <a:r>
              <a:rPr lang="en-GB" sz="3800" dirty="0"/>
              <a:t> customer order data.</a:t>
            </a:r>
          </a:p>
          <a:p>
            <a:pPr marL="0" indent="0">
              <a:buNone/>
            </a:pPr>
            <a:endParaRPr lang="en-GB" sz="44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4400" b="1" dirty="0"/>
              <a:t>KEY DELIVERABLES:</a:t>
            </a:r>
          </a:p>
          <a:p>
            <a:pPr marL="0" indent="0">
              <a:buNone/>
            </a:pPr>
            <a:endParaRPr lang="en-IN" b="1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ETL pipeline using Databricks and Azure data factory.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Centralized Data Governance via Unity Catalog.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Business Dashboards in Power BI.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4400" b="1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4400" b="1" dirty="0"/>
              <a:t>BUSINESS OBJECTIVE: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are our top-performing regions?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Which products have high return rates?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Are our discounts effective?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400" b="1" dirty="0"/>
              <a:t> 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901544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B506A-F7FB-6A1A-557E-06ED2568C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0995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DATA ARCHITECTURE: (MEDALLION APPROACH)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B7F8A-C26E-15DD-49E0-1A21BB7C6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2936"/>
            <a:ext cx="10515600" cy="507402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b="1" dirty="0"/>
              <a:t>BRONZE:</a:t>
            </a:r>
          </a:p>
          <a:p>
            <a:pPr marL="0" indent="0">
              <a:buNone/>
            </a:pPr>
            <a:r>
              <a:rPr lang="en-GB" b="1" dirty="0"/>
              <a:t>               </a:t>
            </a:r>
            <a:r>
              <a:rPr lang="en-GB" sz="2400" dirty="0"/>
              <a:t>Ingestion of raw .csv files (Customer, Supplier, Orders, </a:t>
            </a:r>
            <a:r>
              <a:rPr lang="en-GB" sz="2400" dirty="0" err="1"/>
              <a:t>Lineitem,etc</a:t>
            </a:r>
            <a:r>
              <a:rPr lang="en-GB" sz="2400" dirty="0"/>
              <a:t>.) into ADLS with the help of linked services in Azure data factory.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b="1" dirty="0"/>
              <a:t>SILVER:</a:t>
            </a:r>
          </a:p>
          <a:p>
            <a:pPr marL="0" indent="0">
              <a:buNone/>
            </a:pPr>
            <a:r>
              <a:rPr lang="en-GB" sz="2400" b="1" dirty="0"/>
              <a:t>                 </a:t>
            </a:r>
            <a:r>
              <a:rPr lang="en-GB" sz="2400" dirty="0"/>
              <a:t>Schema enforcement, data type casting (Decimals/Integers) with the help of </a:t>
            </a:r>
            <a:r>
              <a:rPr lang="en-GB" sz="2400" dirty="0" err="1"/>
              <a:t>Sql</a:t>
            </a:r>
            <a:r>
              <a:rPr lang="en-GB" sz="2400" dirty="0"/>
              <a:t> functions and deduplication using </a:t>
            </a:r>
            <a:r>
              <a:rPr lang="en-GB" sz="2400" dirty="0" err="1"/>
              <a:t>PySpark</a:t>
            </a:r>
            <a:r>
              <a:rPr lang="en-GB" sz="2400" dirty="0"/>
              <a:t> </a:t>
            </a:r>
            <a:r>
              <a:rPr lang="en-GB" sz="2400" dirty="0" err="1"/>
              <a:t>dataframes</a:t>
            </a:r>
            <a:r>
              <a:rPr lang="en-GB" sz="2400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b="1" dirty="0"/>
              <a:t>GOLD:</a:t>
            </a:r>
          </a:p>
          <a:p>
            <a:pPr marL="0" indent="0">
              <a:buNone/>
            </a:pPr>
            <a:r>
              <a:rPr lang="en-GB" b="1" dirty="0"/>
              <a:t>              </a:t>
            </a:r>
            <a:r>
              <a:rPr lang="en-GB" sz="2400" dirty="0"/>
              <a:t>Business-ready tables for Monthly Pricing, Regional Analysis, Customer summary and yearly pricing trends of </a:t>
            </a:r>
            <a:r>
              <a:rPr lang="en-GB" sz="2400" dirty="0" err="1"/>
              <a:t>lineitems</a:t>
            </a:r>
            <a:r>
              <a:rPr lang="en-GB" sz="2400" dirty="0"/>
              <a:t>.</a:t>
            </a:r>
            <a:endParaRPr lang="en-GB" sz="2400" b="1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28038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77BFF-0FBD-E9B7-5537-BF2826834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4116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DATA INGESTION:(BRONZE LAYER)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E60816-A918-8288-BF0A-39FDA91B06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91978"/>
            <a:ext cx="10370270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8 Primary Datasets (Part,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PartSupp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Supplier, Customer, Orders,       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Lineitem</a:t>
            </a:r>
            <a:r>
              <a:rPr lang="en-US" altLang="en-US" sz="2400" dirty="0" err="1"/>
              <a:t>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Nation, Region).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Tab-separated values (\t) stored in ADLS Gen2.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Mounting ADLS to Databricks.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         Reading raw CSVs with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inferSchema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handling special delimiters.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 u="sng" dirty="0">
                <a:hlinkClick r:id="rId2"/>
              </a:rPr>
              <a:t>https://github.com/akgeoinsys/retail/blob/main/Retail-20210521T141851Z-001.zip</a:t>
            </a:r>
            <a:endParaRPr lang="en-I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548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FD37F-2239-FAF2-E6F4-708391BD0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2714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UNITY CATALOG- VOLUMES: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5C9CB-39CE-5956-FBD5-C0ECAE094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2363"/>
            <a:ext cx="10515600" cy="50646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In the past, we might have used DBFS (Databricks File System) for staging. However, in a Unity </a:t>
            </a:r>
            <a:r>
              <a:rPr lang="en-GB" sz="2400" dirty="0" err="1"/>
              <a:t>Catalog</a:t>
            </a:r>
            <a:r>
              <a:rPr lang="en-GB" sz="2400" dirty="0"/>
              <a:t> world, Volumes are the modern standard for handling non-tabular data (like ZIP, PDF, or CSV files).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It provides a predictable path (/Volumes/...) that works with both standard Python libraries (</a:t>
            </a:r>
            <a:r>
              <a:rPr lang="en-GB" sz="2400" dirty="0" err="1"/>
              <a:t>os</a:t>
            </a:r>
            <a:r>
              <a:rPr lang="en-GB" sz="2400" dirty="0"/>
              <a:t>, </a:t>
            </a:r>
            <a:r>
              <a:rPr lang="en-GB" sz="2400" dirty="0" err="1"/>
              <a:t>zipfile</a:t>
            </a:r>
            <a:r>
              <a:rPr lang="en-GB" sz="2400" dirty="0"/>
              <a:t>) and Spark and the access is governed by UC permissions (GRANT/REVOKE), just like tables.</a:t>
            </a:r>
          </a:p>
          <a:p>
            <a:pPr marL="0" indent="0">
              <a:buNone/>
            </a:pPr>
            <a:r>
              <a:rPr lang="en-GB" sz="2400" b="1" dirty="0"/>
              <a:t>BENEFITS OF THIS APPROACH: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The </a:t>
            </a:r>
            <a:r>
              <a:rPr lang="en-GB" sz="2400" dirty="0" err="1"/>
              <a:t>zipfile</a:t>
            </a:r>
            <a:r>
              <a:rPr lang="en-GB" sz="2400" dirty="0"/>
              <a:t> library doesn't natively speak cloud protocols like </a:t>
            </a:r>
            <a:r>
              <a:rPr lang="en-GB" sz="2400" dirty="0" err="1"/>
              <a:t>abfss</a:t>
            </a:r>
            <a:r>
              <a:rPr lang="en-GB" sz="2400" dirty="0"/>
              <a:t>://. By extracting to a Volume first, we use the local POSIX-compliant path that Python understands, then move the result to the cloud.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This code allows us to programmatically refresh our data source instead of manually uploading files through a UI.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98667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050B3-7DCC-D58C-E91E-F3F89A0F8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0421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EXPLORATORY DATA ANALYSIS: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9E120-CE96-C996-C888-B5224BA5D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5802"/>
            <a:ext cx="10515600" cy="512116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Exploratory analysis to understand key distributions, patterns, and potential issues in the dataset.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Now that our data is sitting in the Bronze(raw) layer of your Unity </a:t>
            </a:r>
            <a:r>
              <a:rPr lang="en-GB" sz="2400" dirty="0" err="1"/>
              <a:t>Catalog</a:t>
            </a:r>
            <a:r>
              <a:rPr lang="en-GB" sz="2400" dirty="0"/>
              <a:t>, it is likely unrefined, potentially containing duplicates, null values, or incorrect data types.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EDA helps you understand customer behaviour and data quality before you build any machine learning models or BI dashboards.</a:t>
            </a:r>
          </a:p>
          <a:p>
            <a:pPr marL="0" indent="0">
              <a:buNone/>
            </a:pPr>
            <a:r>
              <a:rPr lang="en-GB" sz="2400" b="1" dirty="0"/>
              <a:t>WHY EDA IS ESSENTIAL?</a:t>
            </a:r>
          </a:p>
          <a:p>
            <a:pPr marL="0" indent="0">
              <a:buNone/>
            </a:pPr>
            <a:r>
              <a:rPr lang="en-GB" sz="2400" b="1" dirty="0"/>
              <a:t>                        </a:t>
            </a:r>
            <a:r>
              <a:rPr lang="en-GB" sz="2400" dirty="0"/>
              <a:t>1.Data Quality Audit</a:t>
            </a:r>
          </a:p>
          <a:p>
            <a:pPr marL="0" indent="0">
              <a:buNone/>
            </a:pPr>
            <a:r>
              <a:rPr lang="en-GB" sz="2400" dirty="0"/>
              <a:t>                        2.Handling Anomalies</a:t>
            </a:r>
          </a:p>
          <a:p>
            <a:pPr marL="0" indent="0">
              <a:buNone/>
            </a:pPr>
            <a:r>
              <a:rPr lang="en-GB" sz="2400" dirty="0"/>
              <a:t>                        3.Feature Identification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2400" dirty="0"/>
          </a:p>
          <a:p>
            <a:pPr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09090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FE475-EE17-576C-DC5B-AB48D60D3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55870" cy="671823"/>
          </a:xfrm>
        </p:spPr>
        <p:txBody>
          <a:bodyPr>
            <a:normAutofit/>
          </a:bodyPr>
          <a:lstStyle/>
          <a:p>
            <a:r>
              <a:rPr lang="en-GB" sz="4000" b="1" dirty="0"/>
              <a:t>DATA TRANSFORMATON: (SILVER LAYER)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60025-050C-0147-B9EB-61C98B712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6948"/>
            <a:ext cx="10515600" cy="51400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CLEANING LOGIC: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400" dirty="0"/>
              <a:t>Converted prices to Decimal(18,2) to ensure financial accuracy.</a:t>
            </a:r>
            <a:r>
              <a:rPr lang="en-GB" sz="2400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Aggregate data using </a:t>
            </a:r>
            <a:r>
              <a:rPr lang="en-GB" sz="2400" dirty="0" err="1"/>
              <a:t>PySpark</a:t>
            </a:r>
            <a:r>
              <a:rPr lang="en-GB" sz="2400" dirty="0"/>
              <a:t> functions for calculating summary statistics.</a:t>
            </a:r>
            <a:endParaRPr lang="en-IN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Implement extensive transformations using </a:t>
            </a:r>
            <a:r>
              <a:rPr lang="en-GB" sz="2400" dirty="0" err="1"/>
              <a:t>PySpark</a:t>
            </a:r>
            <a:r>
              <a:rPr lang="en-GB" sz="2400" dirty="0"/>
              <a:t> to enrich data types and create derived columns.</a:t>
            </a:r>
            <a:endParaRPr lang="en-IN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Leverage </a:t>
            </a:r>
            <a:r>
              <a:rPr lang="en-GB" sz="2400" dirty="0" err="1"/>
              <a:t>PySpark's</a:t>
            </a:r>
            <a:r>
              <a:rPr lang="en-GB" sz="2400" dirty="0"/>
              <a:t> join operations based on common keys for comprehensive data consolidation.</a:t>
            </a:r>
            <a:endParaRPr lang="en-IN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Apply </a:t>
            </a:r>
            <a:r>
              <a:rPr lang="en-GB" sz="2400" dirty="0" err="1"/>
              <a:t>PySpark</a:t>
            </a:r>
            <a:r>
              <a:rPr lang="en-GB" sz="2400" dirty="0"/>
              <a:t>-based data partitioning for enhanced query performance.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Utilize </a:t>
            </a:r>
            <a:r>
              <a:rPr lang="en-GB" sz="2400" dirty="0" err="1"/>
              <a:t>PySpark</a:t>
            </a:r>
            <a:r>
              <a:rPr lang="en-GB" sz="2400" dirty="0"/>
              <a:t> for data deduplication, ensuring enhanced data </a:t>
            </a:r>
            <a:r>
              <a:rPr lang="en-GB" sz="2400" dirty="0" err="1"/>
              <a:t>quality.Implement</a:t>
            </a:r>
            <a:r>
              <a:rPr lang="en-GB" sz="2400" dirty="0"/>
              <a:t> validation checks within the </a:t>
            </a:r>
            <a:r>
              <a:rPr lang="en-GB" sz="2400" dirty="0" err="1"/>
              <a:t>PySpark</a:t>
            </a:r>
            <a:r>
              <a:rPr lang="en-GB" sz="2400" dirty="0"/>
              <a:t> workflow to maintain adherence to business rules.</a:t>
            </a: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5948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248E-3146-9A09-8458-D273D22AE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7584"/>
            <a:ext cx="10515600" cy="54793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STORAGE: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All cleaned files are saved in </a:t>
            </a:r>
            <a:r>
              <a:rPr lang="en-GB" sz="2400" b="1" dirty="0"/>
              <a:t>Delta Format </a:t>
            </a:r>
            <a:r>
              <a:rPr lang="en-GB" sz="2400" dirty="0"/>
              <a:t>in silver layer for ACID compliance and performance.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Moving from raw CSV files to Delta Lake format in your Silver and Gold layers is a critical architectural decision. Delta Lake is an open-source storage layer that brings reliability to data lakes.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Advantages of Delta format are;</a:t>
            </a:r>
          </a:p>
          <a:p>
            <a:pPr marL="0" indent="0">
              <a:buNone/>
            </a:pPr>
            <a:r>
              <a:rPr lang="en-IN" sz="2400" dirty="0"/>
              <a:t>                              1.Time Travel (Data Versioning)</a:t>
            </a:r>
          </a:p>
          <a:p>
            <a:pPr marL="0" indent="0">
              <a:buNone/>
            </a:pPr>
            <a:r>
              <a:rPr lang="en-IN" sz="2400" dirty="0"/>
              <a:t>                              2.Schema Enforcement and Evolution</a:t>
            </a:r>
          </a:p>
          <a:p>
            <a:pPr marL="0" indent="0">
              <a:buNone/>
            </a:pPr>
            <a:r>
              <a:rPr lang="en-IN" sz="2400" dirty="0"/>
              <a:t>                              3.ACID Transactions (Reliability)</a:t>
            </a:r>
          </a:p>
          <a:p>
            <a:pPr marL="0" indent="0">
              <a:buNone/>
            </a:pPr>
            <a:r>
              <a:rPr lang="en-IN" sz="2400" dirty="0"/>
              <a:t>                              4.Performance Optimization</a:t>
            </a:r>
          </a:p>
          <a:p>
            <a:pPr marL="0" indent="0">
              <a:buNone/>
            </a:pPr>
            <a:r>
              <a:rPr lang="en-IN" sz="2400" dirty="0"/>
              <a:t>                              5.Unified Batch and Streaming</a:t>
            </a:r>
          </a:p>
        </p:txBody>
      </p:sp>
    </p:spTree>
    <p:extLst>
      <p:ext uri="{BB962C8B-B14F-4D97-AF65-F5344CB8AC3E}">
        <p14:creationId xmlns:p14="http://schemas.microsoft.com/office/powerpoint/2010/main" val="2479551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9EA64-1CED-2E2C-213E-71EFE44F8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8474"/>
            <a:ext cx="8598031" cy="556182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DATA GOVERNANCE:(UNITY CATALOG)</a:t>
            </a:r>
            <a:endParaRPr lang="en-IN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B131B2-0DA9-CAAE-041B-2BEBDDF52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8351"/>
            <a:ext cx="10515600" cy="499861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In this project, we use Unity </a:t>
            </a:r>
            <a:r>
              <a:rPr lang="en-GB" sz="2400" dirty="0" err="1"/>
              <a:t>Catalog</a:t>
            </a:r>
            <a:r>
              <a:rPr lang="en-GB" sz="2400" dirty="0"/>
              <a:t> to organize data into a 3-tier namespace and centralizing security is what transforms a "collection of files" into a professional Data Governance framework.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/>
              <a:t>Tier 1: </a:t>
            </a:r>
            <a:r>
              <a:rPr lang="en-IN" sz="2400" b="1" dirty="0" err="1"/>
              <a:t>Catalog</a:t>
            </a:r>
            <a:r>
              <a:rPr lang="en-IN" sz="2400" b="1" dirty="0"/>
              <a:t>:</a:t>
            </a:r>
          </a:p>
          <a:p>
            <a:pPr marL="0" indent="0">
              <a:buNone/>
            </a:pPr>
            <a:r>
              <a:rPr lang="en-IN" sz="2400" b="1" dirty="0"/>
              <a:t>                  </a:t>
            </a:r>
            <a:r>
              <a:rPr lang="en-GB" sz="2400" dirty="0"/>
              <a:t>This is the top-level container. In this project, </a:t>
            </a:r>
            <a:r>
              <a:rPr lang="en-GB" sz="2400" b="1" dirty="0" err="1"/>
              <a:t>kirandb</a:t>
            </a:r>
            <a:r>
              <a:rPr lang="en-GB" sz="2400" b="1" dirty="0"/>
              <a:t>. </a:t>
            </a:r>
            <a:r>
              <a:rPr lang="en-GB" sz="2400" dirty="0"/>
              <a:t>acts as the primary storage for our retail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/>
              <a:t>Tier 2: Schema:</a:t>
            </a:r>
          </a:p>
          <a:p>
            <a:pPr marL="0" indent="0">
              <a:buNone/>
            </a:pPr>
            <a:r>
              <a:rPr lang="en-IN" sz="2400" b="1" dirty="0"/>
              <a:t>                </a:t>
            </a:r>
            <a:r>
              <a:rPr lang="en-IN" sz="2400" dirty="0"/>
              <a:t>It is </a:t>
            </a:r>
            <a:r>
              <a:rPr lang="en-GB" sz="2400" dirty="0"/>
              <a:t>also known as a Database and this is where you logically group tables based on their refinement level</a:t>
            </a:r>
            <a:r>
              <a:rPr lang="en-IN" sz="2400" dirty="0"/>
              <a:t>. (</a:t>
            </a:r>
            <a:r>
              <a:rPr lang="en-IN" sz="2400" dirty="0" err="1"/>
              <a:t>ie</a:t>
            </a:r>
            <a:r>
              <a:rPr lang="en-IN" sz="2400" dirty="0"/>
              <a:t>- </a:t>
            </a:r>
            <a:r>
              <a:rPr lang="en-IN" sz="2400" dirty="0" err="1"/>
              <a:t>kirandb.retail</a:t>
            </a:r>
            <a:r>
              <a:rPr lang="en-IN" sz="2400" dirty="0"/>
              <a:t>…… , </a:t>
            </a:r>
            <a:r>
              <a:rPr lang="en-IN" sz="2400" dirty="0" err="1"/>
              <a:t>analytics.gold</a:t>
            </a:r>
            <a:r>
              <a:rPr lang="en-IN" sz="2400" dirty="0"/>
              <a:t>……..)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/>
              <a:t>Tier 3: Tables:</a:t>
            </a:r>
          </a:p>
          <a:p>
            <a:pPr marL="0" indent="0">
              <a:buNone/>
            </a:pPr>
            <a:r>
              <a:rPr lang="en-IN" sz="2400" b="1" dirty="0"/>
              <a:t>                </a:t>
            </a:r>
            <a:r>
              <a:rPr lang="en-GB" sz="2400" dirty="0"/>
              <a:t>The actual Delta table containing your data. Because it is in a 3-tier namespace, you can query it in Power BI or SQL. (</a:t>
            </a:r>
            <a:r>
              <a:rPr lang="en-GB" sz="2400" dirty="0" err="1"/>
              <a:t>kirandb.retail.customersummary</a:t>
            </a:r>
            <a:r>
              <a:rPr lang="en-GB" sz="2400" dirty="0"/>
              <a:t>)</a:t>
            </a:r>
            <a:endParaRPr lang="en-IN" sz="2400" dirty="0"/>
          </a:p>
          <a:p>
            <a:pPr>
              <a:buFont typeface="Wingdings" panose="05000000000000000000" pitchFamily="2" charset="2"/>
              <a:buChar char="Ø"/>
            </a:pPr>
            <a:endParaRPr lang="en-IN" sz="2400" dirty="0"/>
          </a:p>
          <a:p>
            <a:pPr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65559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86EE9-B2B6-D272-A604-9791CD890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3543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BUSINESS LOGIC: (GOLD LAYER)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59043-E21C-9E4B-BF7D-42B8D85F0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6631"/>
            <a:ext cx="10515600" cy="497033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400" b="1" dirty="0"/>
              <a:t>PRICING SUMMARY:</a:t>
            </a:r>
          </a:p>
          <a:p>
            <a:pPr marL="0" indent="0">
              <a:buNone/>
            </a:pPr>
            <a:r>
              <a:rPr lang="en-GB" sz="2400" b="1" dirty="0"/>
              <a:t>                               </a:t>
            </a:r>
            <a:r>
              <a:rPr lang="en-GB" sz="2400" dirty="0"/>
              <a:t>Tracks revenue trends over time (monthly) and perform quarterly analysis on  pricing data for line items within the specified date range.</a:t>
            </a:r>
            <a:r>
              <a:rPr lang="en-GB" sz="2400" b="1" dirty="0"/>
              <a:t> </a:t>
            </a:r>
            <a:r>
              <a:rPr lang="en-GB" sz="2400" dirty="0" err="1"/>
              <a:t>Analyze</a:t>
            </a:r>
            <a:r>
              <a:rPr lang="en-GB" sz="2400" dirty="0"/>
              <a:t> yearly pricing trends for line items shipped within the specified date range.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/>
              <a:t>PRODUCT RETURN ANALYSIS:</a:t>
            </a:r>
          </a:p>
          <a:p>
            <a:pPr marL="0" indent="0">
              <a:buNone/>
            </a:pPr>
            <a:r>
              <a:rPr lang="en-IN" sz="2400" dirty="0"/>
              <a:t>                                </a:t>
            </a:r>
            <a:r>
              <a:rPr lang="en-GB" sz="2400" dirty="0"/>
              <a:t>Identifies quality issues by Brand and Analyse pricing information for returned products.</a:t>
            </a:r>
            <a:endParaRPr lang="en-IN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/>
              <a:t>LINE-ITEM PERFORMANCE COMPARISON:  </a:t>
            </a:r>
          </a:p>
          <a:p>
            <a:pPr marL="0" indent="0">
              <a:buNone/>
            </a:pPr>
            <a:r>
              <a:rPr lang="en-IN" sz="2400" b="1" dirty="0"/>
              <a:t>                                 </a:t>
            </a:r>
            <a:r>
              <a:rPr lang="en-GB" sz="2400" dirty="0"/>
              <a:t>Compare the performance of line items shipped within the given date range</a:t>
            </a:r>
            <a:r>
              <a:rPr lang="en-IN" sz="2400" dirty="0"/>
              <a:t> and find the average shipping days for each region.        </a:t>
            </a:r>
          </a:p>
          <a:p>
            <a:pPr marL="0" indent="0">
              <a:buNone/>
            </a:pPr>
            <a:r>
              <a:rPr lang="en-IN" sz="2400" b="1" dirty="0"/>
              <a:t>                                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068799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E7905-7165-2910-B22B-BB44B3175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409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POWER BI INTEGRATION: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462A0-483F-6EB2-30EC-73CB6281C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1534"/>
            <a:ext cx="10515600" cy="521542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b="1" dirty="0"/>
              <a:t>CONNECTION:</a:t>
            </a:r>
          </a:p>
          <a:p>
            <a:pPr marL="0" indent="0">
              <a:buNone/>
            </a:pPr>
            <a:r>
              <a:rPr lang="en-GB" b="1" dirty="0"/>
              <a:t>                 </a:t>
            </a:r>
            <a:r>
              <a:rPr lang="en-GB" dirty="0"/>
              <a:t>Securely connected Power BI to Databricks via Personal Access Token (PAT).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b="1" dirty="0"/>
              <a:t>MODE:</a:t>
            </a:r>
          </a:p>
          <a:p>
            <a:pPr marL="0" indent="0">
              <a:buNone/>
            </a:pPr>
            <a:r>
              <a:rPr lang="en-GB" b="1" dirty="0"/>
              <a:t>                 </a:t>
            </a:r>
            <a:r>
              <a:rPr lang="en-GB" dirty="0"/>
              <a:t>Utilized Import mode instead of direct query for high-performance visual interaction.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b="1" dirty="0"/>
              <a:t>VISUALIZATION:</a:t>
            </a:r>
          </a:p>
          <a:p>
            <a:pPr marL="0" indent="0">
              <a:buNone/>
            </a:pPr>
            <a:r>
              <a:rPr lang="en-GB" dirty="0"/>
              <a:t>                  I  have created simple </a:t>
            </a:r>
            <a:r>
              <a:rPr lang="en-GB" dirty="0" err="1"/>
              <a:t>PowerBI</a:t>
            </a:r>
            <a:r>
              <a:rPr lang="en-GB" dirty="0"/>
              <a:t> reports showcasing key metrics such as sales based on month, count of returned items and total customers per region.</a:t>
            </a:r>
            <a:endParaRPr lang="en-IN" dirty="0"/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887406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B02C7-53FC-78FD-1398-56B8BC366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1265"/>
            <a:ext cx="10515600" cy="523569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GB" sz="6000" b="1" dirty="0"/>
          </a:p>
          <a:p>
            <a:pPr marL="0" indent="0" algn="ctr">
              <a:buNone/>
            </a:pPr>
            <a:endParaRPr lang="en-GB" sz="6000" b="1" dirty="0"/>
          </a:p>
          <a:p>
            <a:pPr marL="0" indent="0" algn="ctr">
              <a:buNone/>
            </a:pPr>
            <a:r>
              <a:rPr lang="en-GB" sz="6000" b="1" dirty="0"/>
              <a:t>THANK YOU </a:t>
            </a:r>
            <a:endParaRPr lang="en-IN" sz="6000" b="1" dirty="0"/>
          </a:p>
        </p:txBody>
      </p:sp>
    </p:spTree>
    <p:extLst>
      <p:ext uri="{BB962C8B-B14F-4D97-AF65-F5344CB8AC3E}">
        <p14:creationId xmlns:p14="http://schemas.microsoft.com/office/powerpoint/2010/main" val="1820258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849</TotalTime>
  <Words>1090</Words>
  <Application>Microsoft Office PowerPoint</Application>
  <PresentationFormat>Widescreen</PresentationFormat>
  <Paragraphs>105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PowerPoint Presentation</vt:lpstr>
      <vt:lpstr>PROJECT OVERVIEW:</vt:lpstr>
      <vt:lpstr>PROJECT OBJECTIVE:</vt:lpstr>
      <vt:lpstr>DATA ARCHITECTURE: (MEDALLION APPROACH)</vt:lpstr>
      <vt:lpstr>DATA INGESTION:(BRONZE LAYER)</vt:lpstr>
      <vt:lpstr>UNITY CATALOG- VOLUMES:</vt:lpstr>
      <vt:lpstr>EXPLORATORY DATA ANALYSIS:</vt:lpstr>
      <vt:lpstr>DATA TRANSFORMATON: (SILVER LAYER)</vt:lpstr>
      <vt:lpstr>PowerPoint Presentation</vt:lpstr>
      <vt:lpstr>DATA GOVERNANCE:(UNITY CATALOG)</vt:lpstr>
      <vt:lpstr>BUSINESS LOGIC: (GOLD LAYER)</vt:lpstr>
      <vt:lpstr>POWER BI INTEGRATION: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KIRAN M</dc:creator>
  <cp:lastModifiedBy>KIRAN M</cp:lastModifiedBy>
  <cp:revision>2</cp:revision>
  <dcterms:created xsi:type="dcterms:W3CDTF">2026-01-02T11:34:23Z</dcterms:created>
  <dcterms:modified xsi:type="dcterms:W3CDTF">2026-01-05T13:00:41Z</dcterms:modified>
</cp:coreProperties>
</file>